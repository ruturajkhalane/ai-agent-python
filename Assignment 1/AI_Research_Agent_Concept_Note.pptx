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0" d="100"/>
          <a:sy n="90" d="100"/>
        </p:scale>
        <p:origin x="54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11831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SECTION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0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17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NOTE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182880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Research Agent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297180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agentic AI system for self-directed web research and structured report generation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9646920" y="1874520"/>
            <a:ext cx="1554480" cy="1554480"/>
          </a:xfrm>
          <a:prstGeom prst="ellipse">
            <a:avLst/>
          </a:prstGeom>
          <a:solidFill>
            <a:srgbClr val="2EC4B6"/>
          </a:solidFill>
          <a:ln/>
          <a:effectLst>
            <a:outerShdw blurRad="127000" dist="50800" dir="54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2680" y="2240280"/>
            <a:ext cx="822960" cy="8229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5989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AI  ·  Agentic Systems  ·  Automated Research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an AI Research Agent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59436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is central to business, policy, and academic work — yet the process has barely changed. A person must decide what to search for, sift through many sources, judge their credibility, and synthesize scattered findings into a coherent narrative. This is slow, uneven in quality, and hard to scale.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3977640"/>
            <a:ext cx="5943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concept proposes an AI agent that plans, executes, and reports on a research task independently — from a single natural-language goal to a complete, evidence-based report.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040880" y="1554480"/>
            <a:ext cx="4480560" cy="4023360"/>
          </a:xfrm>
          <a:prstGeom prst="roundRect">
            <a:avLst>
              <a:gd name="adj" fmla="val 2727"/>
            </a:avLst>
          </a:prstGeom>
          <a:solidFill>
            <a:srgbClr val="F7F9FC"/>
          </a:solidFill>
          <a:ln/>
          <a:effectLst>
            <a:outerShdw blurRad="177800" dist="508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60920" y="17830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GOAL TO REPORT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60920" y="23317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7730" y="2408530"/>
            <a:ext cx="395021" cy="395021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092440" y="231343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a goal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092440" y="258775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"Assess cloud security risks in ed-tech"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7360920" y="33832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7730" y="3460090"/>
            <a:ext cx="395021" cy="39502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092440" y="336499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researches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8092440" y="363931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 steps, searches, reads sources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7360920" y="443484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37730" y="4511650"/>
            <a:ext cx="395021" cy="39502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092440" y="441655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report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8092440" y="469087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ready for review or reuse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Existing Approaches Fall Short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074920" cy="1874520"/>
          </a:xfrm>
          <a:prstGeom prst="roundRect">
            <a:avLst>
              <a:gd name="adj" fmla="val 4878"/>
            </a:avLst>
          </a:prstGeom>
          <a:solidFill>
            <a:srgbClr val="F7F9FC"/>
          </a:solidFill>
          <a:ln/>
          <a:effectLst>
            <a:outerShdw blurRad="1270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8745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210" y="1951330"/>
            <a:ext cx="395021" cy="3950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837944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&amp; inconsistent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14400" y="2514600"/>
            <a:ext cx="4526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research quality depends on the researcher's skill, domain knowledge, and available time.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035040" y="1600200"/>
            <a:ext cx="5074920" cy="1874520"/>
          </a:xfrm>
          <a:prstGeom prst="roundRect">
            <a:avLst>
              <a:gd name="adj" fmla="val 4878"/>
            </a:avLst>
          </a:prstGeom>
          <a:solidFill>
            <a:srgbClr val="F7F9FC"/>
          </a:solidFill>
          <a:ln/>
          <a:effectLst>
            <a:outerShdw blurRad="1270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309360" y="18745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6170" y="1951330"/>
            <a:ext cx="395021" cy="39502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40880" y="1837944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grounded in reality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309360" y="2514600"/>
            <a:ext cx="4526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AI chat answers come from static training data and can't verify current, real-world facts.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40080" y="3794760"/>
            <a:ext cx="5074920" cy="1874520"/>
          </a:xfrm>
          <a:prstGeom prst="roundRect">
            <a:avLst>
              <a:gd name="adj" fmla="val 4878"/>
            </a:avLst>
          </a:prstGeom>
          <a:solidFill>
            <a:srgbClr val="F7F9FC"/>
          </a:solidFill>
          <a:ln/>
          <a:effectLst>
            <a:outerShdw blurRad="1270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40690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1210" y="4145890"/>
            <a:ext cx="395021" cy="39502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4032504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workflow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914400" y="4709160"/>
            <a:ext cx="4526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tools require step-by-step user management rather than delegating the full research cycle.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035040" y="3794760"/>
            <a:ext cx="5074920" cy="1874520"/>
          </a:xfrm>
          <a:prstGeom prst="roundRect">
            <a:avLst>
              <a:gd name="adj" fmla="val 4878"/>
            </a:avLst>
          </a:prstGeom>
          <a:solidFill>
            <a:srgbClr val="F7F9FC"/>
          </a:solidFill>
          <a:ln/>
          <a:effectLst>
            <a:outerShdw blurRad="1270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309360" y="40690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6170" y="4145890"/>
            <a:ext cx="395021" cy="39502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040880" y="4032504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Widening information gap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6309360" y="4709160"/>
            <a:ext cx="4526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available information grows, the time humans have to research it does not grow with it.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Agent Should Achieve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25880" y="1664208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users state a research goal in plain language and receive a complete report with minimal input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40080" y="2532888"/>
            <a:ext cx="457200" cy="45720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532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25880" y="2505456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the agent genuine planning ability so it determines its own steps, not a fixed script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640080" y="3374136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3741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25880" y="3346704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every output in verifiable, current information from the web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640080" y="4215384"/>
            <a:ext cx="457200" cy="45720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215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25880" y="4187952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agent's reasoning transparent and auditable at every step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640080" y="505663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5056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25880" y="50292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findings in a consistent, professional report format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APPROACH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Plan → Act → Observe Reasoning Loop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698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 language model acts as the reasoning engine. At each step it evaluates what it knows, identifies the next gap, and chooses a tool — a web search or a full page read — until it has enough evidence to answer the original goal, then compiles a structured report.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68096" y="2834640"/>
            <a:ext cx="1874520" cy="2377440"/>
          </a:xfrm>
          <a:prstGeom prst="roundRect">
            <a:avLst>
              <a:gd name="adj" fmla="val 4878"/>
            </a:avLst>
          </a:prstGeom>
          <a:solidFill>
            <a:srgbClr val="161B4D"/>
          </a:solidFill>
          <a:ln/>
        </p:spPr>
      </p:sp>
      <p:sp>
        <p:nvSpPr>
          <p:cNvPr id="6" name="Shape 4"/>
          <p:cNvSpPr/>
          <p:nvPr/>
        </p:nvSpPr>
        <p:spPr>
          <a:xfrm>
            <a:off x="1385316" y="3108960"/>
            <a:ext cx="640080" cy="64008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4927" y="3198571"/>
            <a:ext cx="460858" cy="46085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59536" y="38862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77824" y="4251960"/>
            <a:ext cx="16550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states research objective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2642616" y="370332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2962656" y="2834640"/>
            <a:ext cx="1874520" cy="2377440"/>
          </a:xfrm>
          <a:prstGeom prst="roundRect">
            <a:avLst>
              <a:gd name="adj" fmla="val 4878"/>
            </a:avLst>
          </a:prstGeom>
          <a:solidFill>
            <a:srgbClr val="161B4D"/>
          </a:solidFill>
          <a:ln/>
        </p:spPr>
      </p:sp>
      <p:sp>
        <p:nvSpPr>
          <p:cNvPr id="12" name="Shape 9"/>
          <p:cNvSpPr/>
          <p:nvPr/>
        </p:nvSpPr>
        <p:spPr>
          <a:xfrm>
            <a:off x="3579876" y="3108960"/>
            <a:ext cx="640080" cy="64008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9487" y="3198571"/>
            <a:ext cx="460858" cy="46085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054096" y="38862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072384" y="4251960"/>
            <a:ext cx="16550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identifies next knowledge gap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4837176" y="370332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3"/>
          <p:cNvSpPr/>
          <p:nvPr/>
        </p:nvSpPr>
        <p:spPr>
          <a:xfrm>
            <a:off x="5157216" y="2834640"/>
            <a:ext cx="1874520" cy="2377440"/>
          </a:xfrm>
          <a:prstGeom prst="roundRect">
            <a:avLst>
              <a:gd name="adj" fmla="val 4878"/>
            </a:avLst>
          </a:prstGeom>
          <a:solidFill>
            <a:srgbClr val="161B4D"/>
          </a:solidFill>
          <a:ln/>
        </p:spPr>
      </p:sp>
      <p:sp>
        <p:nvSpPr>
          <p:cNvPr id="18" name="Shape 14"/>
          <p:cNvSpPr/>
          <p:nvPr/>
        </p:nvSpPr>
        <p:spPr>
          <a:xfrm>
            <a:off x="5774436" y="3108960"/>
            <a:ext cx="640080" cy="64008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4047" y="3198571"/>
            <a:ext cx="460858" cy="46085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248656" y="38862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/ Scrape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5266944" y="4251960"/>
            <a:ext cx="16550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Retrieves &amp; reads live web sources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7031736" y="370332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3" name="Shape 18"/>
          <p:cNvSpPr/>
          <p:nvPr/>
        </p:nvSpPr>
        <p:spPr>
          <a:xfrm>
            <a:off x="7351776" y="2834640"/>
            <a:ext cx="1874520" cy="2377440"/>
          </a:xfrm>
          <a:prstGeom prst="roundRect">
            <a:avLst>
              <a:gd name="adj" fmla="val 4878"/>
            </a:avLst>
          </a:prstGeom>
          <a:solidFill>
            <a:srgbClr val="161B4D"/>
          </a:solidFill>
          <a:ln/>
        </p:spPr>
      </p:sp>
      <p:sp>
        <p:nvSpPr>
          <p:cNvPr id="24" name="Shape 19"/>
          <p:cNvSpPr/>
          <p:nvPr/>
        </p:nvSpPr>
        <p:spPr>
          <a:xfrm>
            <a:off x="7968996" y="3108960"/>
            <a:ext cx="640080" cy="64008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58607" y="3198571"/>
            <a:ext cx="460858" cy="46085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443216" y="38862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7461504" y="4251960"/>
            <a:ext cx="16550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if evidence is sufficient</a:t>
            </a:r>
            <a:endParaRPr lang="en-US" sz="1050" dirty="0"/>
          </a:p>
        </p:txBody>
      </p:sp>
      <p:sp>
        <p:nvSpPr>
          <p:cNvPr id="28" name="Text 22"/>
          <p:cNvSpPr/>
          <p:nvPr/>
        </p:nvSpPr>
        <p:spPr>
          <a:xfrm>
            <a:off x="9226296" y="370332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9" name="Shape 23"/>
          <p:cNvSpPr/>
          <p:nvPr/>
        </p:nvSpPr>
        <p:spPr>
          <a:xfrm>
            <a:off x="9546336" y="2834640"/>
            <a:ext cx="1874520" cy="2377440"/>
          </a:xfrm>
          <a:prstGeom prst="roundRect">
            <a:avLst>
              <a:gd name="adj" fmla="val 4878"/>
            </a:avLst>
          </a:prstGeom>
          <a:solidFill>
            <a:srgbClr val="161B4D"/>
          </a:solidFill>
          <a:ln/>
        </p:spPr>
      </p:sp>
      <p:sp>
        <p:nvSpPr>
          <p:cNvPr id="30" name="Shape 24"/>
          <p:cNvSpPr/>
          <p:nvPr/>
        </p:nvSpPr>
        <p:spPr>
          <a:xfrm>
            <a:off x="10163556" y="3108960"/>
            <a:ext cx="640080" cy="64008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53167" y="3198571"/>
            <a:ext cx="460858" cy="460858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9637776" y="38862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400" dirty="0"/>
          </a:p>
        </p:txBody>
      </p:sp>
      <p:sp>
        <p:nvSpPr>
          <p:cNvPr id="33" name="Text 26"/>
          <p:cNvSpPr/>
          <p:nvPr/>
        </p:nvSpPr>
        <p:spPr>
          <a:xfrm>
            <a:off x="9656064" y="4251960"/>
            <a:ext cx="16550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Compiles structured findings</a:t>
            </a:r>
            <a:endParaRPr lang="en-US" sz="1050" dirty="0"/>
          </a:p>
        </p:txBody>
      </p:sp>
      <p:sp>
        <p:nvSpPr>
          <p:cNvPr id="34" name="Text 27"/>
          <p:cNvSpPr/>
          <p:nvPr/>
        </p:nvSpPr>
        <p:spPr>
          <a:xfrm>
            <a:off x="640080" y="61722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E9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implementation: LangChain-style orchestration · Groq-hosted LLM inference · Streamlit interface </a:t>
            </a:r>
          </a:p>
        </p:txBody>
      </p:sp>
      <p:sp>
        <p:nvSpPr>
          <p:cNvPr id="35" name="Text 28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Makes the Agent Effective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7F9FC"/>
          </a:solidFill>
          <a:ln/>
          <a:effectLst>
            <a:outerShdw blurRad="1270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185623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521" y="1926641"/>
            <a:ext cx="362102" cy="3621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96112" y="2468880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Goal-driven autonomy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96112" y="2880360"/>
            <a:ext cx="30083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Decomposes one objective into sub-tasks with no manual planning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89120" y="160020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7F9FC"/>
          </a:solidFill>
          <a:ln/>
          <a:effectLst>
            <a:outerShdw blurRad="1270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45152" y="185623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5561" y="1926641"/>
            <a:ext cx="362102" cy="3621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45152" y="2468880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Live, transparent reasoning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645152" y="2880360"/>
            <a:ext cx="30083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query and source consulted is visible as it happens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138160" y="160020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7F9FC"/>
          </a:solidFill>
          <a:ln/>
          <a:effectLst>
            <a:outerShdw blurRad="1270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94192" y="185623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4601" y="1926641"/>
            <a:ext cx="362102" cy="36210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94192" y="2468880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Evidence-grounded output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394192" y="2880360"/>
            <a:ext cx="30083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drawn from current web sources, not just model memory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40080" y="384048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7F9FC"/>
          </a:solidFill>
          <a:ln/>
          <a:effectLst>
            <a:outerShdw blurRad="1270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96112" y="409651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6521" y="4166921"/>
            <a:ext cx="362102" cy="36210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96112" y="4709160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reporting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896112" y="5120640"/>
            <a:ext cx="30083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Professional, structured format regardless of topic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389120" y="384048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7F9FC"/>
          </a:solidFill>
          <a:ln/>
          <a:effectLst>
            <a:outerShdw blurRad="1270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645152" y="409651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15561" y="4166921"/>
            <a:ext cx="362102" cy="36210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645152" y="4709160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depth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4645152" y="5120640"/>
            <a:ext cx="30083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Tunable steps balance thoroughness against time and cost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138160" y="384048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7F9FC"/>
          </a:solidFill>
          <a:ln/>
          <a:effectLst>
            <a:outerShdw blurRad="1270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94192" y="409651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64601" y="4166921"/>
            <a:ext cx="362102" cy="36210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94192" y="4709160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Portable output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8394192" y="5120640"/>
            <a:ext cx="30083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export cleanly for reuse in other documents or workflows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BENEFITS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Users &amp; Use Cases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1E2761"/>
          </a:solidFill>
          <a:ln/>
          <a:effectLst>
            <a:outerShdw blurRad="1270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77340" y="2240280"/>
            <a:ext cx="731520" cy="73152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9753" y="2342693"/>
            <a:ext cx="526694" cy="52669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2461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Analysts &amp; Consultants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68680" y="393192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Market, competitor, and risk landscape scans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502152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1E2761"/>
          </a:solidFill>
          <a:ln/>
          <a:effectLst>
            <a:outerShdw blurRad="1270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39412" y="2240280"/>
            <a:ext cx="731520" cy="73152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1825" y="2342693"/>
            <a:ext cx="526694" cy="52669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85032" y="32461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&amp; Product Teams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3730752" y="393192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briefings on unfamiliar domains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364224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1E2761"/>
          </a:solidFill>
          <a:ln/>
          <a:effectLst>
            <a:outerShdw blurRad="1270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301484" y="2240280"/>
            <a:ext cx="731520" cy="73152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3897" y="2342693"/>
            <a:ext cx="526694" cy="52669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547104" y="32461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&amp; Researchers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6592824" y="393192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reviews and topic overviews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9226296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1E2761"/>
          </a:solidFill>
          <a:ln/>
          <a:effectLst>
            <a:outerShdw blurRad="1270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0163556" y="2240280"/>
            <a:ext cx="731520" cy="73152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65969" y="2342693"/>
            <a:ext cx="526694" cy="52669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409176" y="32461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Journalists &amp; Content Teams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9454896" y="393192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Preliminary source gathering on developing stories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IMPACT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Outcomes This Concept Delivers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606040" cy="2834640"/>
          </a:xfrm>
          <a:prstGeom prst="roundRect">
            <a:avLst>
              <a:gd name="adj" fmla="val 3509"/>
            </a:avLst>
          </a:prstGeom>
          <a:solidFill>
            <a:srgbClr val="F7F9FC"/>
          </a:solidFill>
          <a:ln/>
          <a:effectLst>
            <a:outerShdw blurRad="1270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65960"/>
            <a:ext cx="457200" cy="54864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2148840"/>
            <a:ext cx="22037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Faster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68680" y="292608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turnaround from goal to first-draft report vs. fully manual research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502152" y="1691640"/>
            <a:ext cx="2606040" cy="2834640"/>
          </a:xfrm>
          <a:prstGeom prst="roundRect">
            <a:avLst>
              <a:gd name="adj" fmla="val 3509"/>
            </a:avLst>
          </a:prstGeom>
          <a:solidFill>
            <a:srgbClr val="F7F9FC"/>
          </a:solidFill>
          <a:ln/>
          <a:effectLst>
            <a:outerShdw blurRad="1270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730752" y="1965960"/>
            <a:ext cx="457200" cy="54864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10" name="Text 8"/>
          <p:cNvSpPr/>
          <p:nvPr/>
        </p:nvSpPr>
        <p:spPr>
          <a:xfrm>
            <a:off x="3703320" y="2148840"/>
            <a:ext cx="22037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Consistent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730752" y="292608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structure and quality, independent of researcher experience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364224" y="1691640"/>
            <a:ext cx="2606040" cy="2834640"/>
          </a:xfrm>
          <a:prstGeom prst="roundRect">
            <a:avLst>
              <a:gd name="adj" fmla="val 3509"/>
            </a:avLst>
          </a:prstGeom>
          <a:solidFill>
            <a:srgbClr val="F7F9FC"/>
          </a:solidFill>
          <a:ln/>
          <a:effectLst>
            <a:outerShdw blurRad="1270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592824" y="1965960"/>
            <a:ext cx="457200" cy="54864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14" name="Text 12"/>
          <p:cNvSpPr/>
          <p:nvPr/>
        </p:nvSpPr>
        <p:spPr>
          <a:xfrm>
            <a:off x="6565392" y="2148840"/>
            <a:ext cx="22037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Transparent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592824" y="292608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builds user trust versus opaque single-shot answers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226296" y="1691640"/>
            <a:ext cx="2606040" cy="2834640"/>
          </a:xfrm>
          <a:prstGeom prst="roundRect">
            <a:avLst>
              <a:gd name="adj" fmla="val 3509"/>
            </a:avLst>
          </a:prstGeom>
          <a:solidFill>
            <a:srgbClr val="F7F9FC"/>
          </a:solidFill>
          <a:ln/>
          <a:effectLst>
            <a:outerShdw blurRad="1270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454896" y="1965960"/>
            <a:ext cx="457200" cy="54864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18" name="Text 16"/>
          <p:cNvSpPr/>
          <p:nvPr/>
        </p:nvSpPr>
        <p:spPr>
          <a:xfrm>
            <a:off x="9427464" y="2148840"/>
            <a:ext cx="22037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Scalable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9454896" y="292608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extendable to specialized domains and workflows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&amp; CONSIDERATIONS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to Plan For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1801368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69164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quality depends on the breadth and reliability of accessible web sources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2697480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2761488"/>
            <a:ext cx="329184" cy="32918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80160" y="265176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with any LLM system, residual risk of inaccurate synthesis remains — treat output as a strong first draft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640080" y="3657600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3721608"/>
            <a:ext cx="329184" cy="32918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80160" y="361188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depth and operating cost are directly related; tune iteration limits to the use case</a:t>
            </a:r>
            <a:endParaRPr lang="en-US" sz="1500" dirty="0"/>
          </a:p>
        </p:txBody>
      </p:sp>
      <p:sp>
        <p:nvSpPr>
          <p:cNvPr id="13" name="Shape 8"/>
          <p:cNvSpPr/>
          <p:nvPr/>
        </p:nvSpPr>
        <p:spPr>
          <a:xfrm>
            <a:off x="640080" y="4617720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4681728"/>
            <a:ext cx="329184" cy="32918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80160" y="457200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or high-stakes use cases warrant additional review safeguards</a:t>
            </a:r>
            <a:endParaRPr lang="en-US" sz="1500" dirty="0"/>
          </a:p>
        </p:txBody>
      </p:sp>
      <p:sp>
        <p:nvSpPr>
          <p:cNvPr id="16" name="Text 10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Concept Can Grow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084832" cy="3017520"/>
          </a:xfrm>
          <a:prstGeom prst="roundRect">
            <a:avLst>
              <a:gd name="adj" fmla="val 4386"/>
            </a:avLst>
          </a:prstGeom>
          <a:solidFill>
            <a:srgbClr val="F7F9FC"/>
          </a:solidFill>
          <a:ln/>
          <a:effectLst>
            <a:outerShdw blurRad="1270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08176" y="19659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4986" y="2042770"/>
            <a:ext cx="395021" cy="3950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697480"/>
            <a:ext cx="1810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tracking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77240" y="3337560"/>
            <a:ext cx="18105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every report claim back to its source page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871216" y="1691640"/>
            <a:ext cx="2084832" cy="3017520"/>
          </a:xfrm>
          <a:prstGeom prst="roundRect">
            <a:avLst>
              <a:gd name="adj" fmla="val 4386"/>
            </a:avLst>
          </a:prstGeom>
          <a:solidFill>
            <a:srgbClr val="F7F9FC"/>
          </a:solidFill>
          <a:ln/>
          <a:effectLst>
            <a:outerShdw blurRad="1270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39312" y="19659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6122" y="2042770"/>
            <a:ext cx="395021" cy="39502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008376" y="2697480"/>
            <a:ext cx="1810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Broader source coverage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3008376" y="3337560"/>
            <a:ext cx="18105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search &amp; retrieval providers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5102352" y="1691640"/>
            <a:ext cx="2084832" cy="3017520"/>
          </a:xfrm>
          <a:prstGeom prst="roundRect">
            <a:avLst>
              <a:gd name="adj" fmla="val 4386"/>
            </a:avLst>
          </a:prstGeom>
          <a:solidFill>
            <a:srgbClr val="F7F9FC"/>
          </a:solidFill>
          <a:ln/>
          <a:effectLst>
            <a:outerShdw blurRad="1270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870448" y="19659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7258" y="2042770"/>
            <a:ext cx="395021" cy="39502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239512" y="2697480"/>
            <a:ext cx="1810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export formats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5239512" y="3337560"/>
            <a:ext cx="18105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and Word alongside Markdown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7333488" y="1691640"/>
            <a:ext cx="2084832" cy="3017520"/>
          </a:xfrm>
          <a:prstGeom prst="roundRect">
            <a:avLst>
              <a:gd name="adj" fmla="val 4386"/>
            </a:avLst>
          </a:prstGeom>
          <a:solidFill>
            <a:srgbClr val="F7F9FC"/>
          </a:solidFill>
          <a:ln/>
          <a:effectLst>
            <a:outerShdw blurRad="1270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101584" y="19659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78394" y="2042770"/>
            <a:ext cx="395021" cy="39502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70648" y="2697480"/>
            <a:ext cx="1810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verification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7470648" y="3337560"/>
            <a:ext cx="18105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 agent fact-checks the primary draft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9564624" y="1691640"/>
            <a:ext cx="2084832" cy="3017520"/>
          </a:xfrm>
          <a:prstGeom prst="roundRect">
            <a:avLst>
              <a:gd name="adj" fmla="val 4386"/>
            </a:avLst>
          </a:prstGeom>
          <a:solidFill>
            <a:srgbClr val="F7F9FC"/>
          </a:solidFill>
          <a:ln/>
          <a:effectLst>
            <a:outerShdw blurRad="1270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10332720" y="19659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09530" y="2042770"/>
            <a:ext cx="395021" cy="395021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701784" y="2697480"/>
            <a:ext cx="1810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Domain-specific tuning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9701784" y="3337560"/>
            <a:ext cx="18105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Configurations for finance, healthcare, policy</a:t>
            </a:r>
            <a:endParaRPr lang="en-US" sz="1000" dirty="0"/>
          </a:p>
        </p:txBody>
      </p:sp>
      <p:sp>
        <p:nvSpPr>
          <p:cNvPr id="29" name="Text 22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94960" y="1188720"/>
            <a:ext cx="1371600" cy="137160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1508760"/>
            <a:ext cx="731520" cy="731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28346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280160" y="3291840"/>
            <a:ext cx="9601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single research goal, planned and executed autonomously, delivered as an evidence-based, structured report.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746</Words>
  <Application>Microsoft Office PowerPoint</Application>
  <PresentationFormat>Widescreen</PresentationFormat>
  <Paragraphs>131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Autonomous Research Agent — Concept Note</dc:title>
  <dc:subject>PptxGenJS Presentation</dc:subject>
  <dc:creator>Concept Note</dc:creator>
  <cp:lastModifiedBy>Ruturaj</cp:lastModifiedBy>
  <cp:revision>3</cp:revision>
  <dcterms:created xsi:type="dcterms:W3CDTF">2026-07-04T15:17:59Z</dcterms:created>
  <dcterms:modified xsi:type="dcterms:W3CDTF">2026-07-13T22:51:38Z</dcterms:modified>
</cp:coreProperties>
</file>